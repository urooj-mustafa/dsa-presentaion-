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9" r:id="rId4"/>
    <p:sldId id="260" r:id="rId5"/>
    <p:sldId id="279" r:id="rId6"/>
    <p:sldId id="280" r:id="rId7"/>
    <p:sldId id="261" r:id="rId8"/>
    <p:sldId id="263" r:id="rId9"/>
    <p:sldId id="264" r:id="rId10"/>
    <p:sldId id="269"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1" autoAdjust="0"/>
    <p:restoredTop sz="94660"/>
  </p:normalViewPr>
  <p:slideViewPr>
    <p:cSldViewPr>
      <p:cViewPr varScale="1">
        <p:scale>
          <a:sx n="78" d="100"/>
          <a:sy n="78" d="100"/>
        </p:scale>
        <p:origin x="964" y="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2B86B37-9E7C-4699-A89E-72EE4B291650}" type="datetimeFigureOut">
              <a:rPr lang="en-US" smtClean="0"/>
              <a:pPr/>
              <a:t>12/24/2024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5EFE787-E5F2-40C5-9D43-E7EAF8E51FDF}" type="slidenum">
              <a:rPr lang="en-US" smtClean="0"/>
              <a:pPr/>
              <a:t>‹#›</a:t>
            </a:fld>
            <a:endParaRPr lang="en-US"/>
          </a:p>
        </p:txBody>
      </p:sp>
    </p:spTree>
    <p:extLst>
      <p:ext uri="{BB962C8B-B14F-4D97-AF65-F5344CB8AC3E}">
        <p14:creationId xmlns:p14="http://schemas.microsoft.com/office/powerpoint/2010/main" val="12274851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BE7D89F-69BA-45D8-85C1-789124DFB921}" type="datetime1">
              <a:rPr lang="en-US" smtClean="0"/>
              <a:pPr/>
              <a:t>12/24/2024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2A8C5E-5ACC-4DAB-B41C-5718F8C58B6D}"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F83749-7540-4838-B5FB-EDC40CB84DB0}" type="datetime1">
              <a:rPr lang="en-US" smtClean="0"/>
              <a:pPr/>
              <a:t>12/24/2024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2A8C5E-5ACC-4DAB-B41C-5718F8C58B6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1A8085-18D1-4091-8AD3-81F140965EFC}" type="datetime1">
              <a:rPr lang="en-US" smtClean="0"/>
              <a:pPr/>
              <a:t>12/24/2024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2A8C5E-5ACC-4DAB-B41C-5718F8C58B6D}"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ACD35F7-97F8-4D2E-B83D-158766068E0A}" type="datetime1">
              <a:rPr lang="en-US" smtClean="0"/>
              <a:pPr/>
              <a:t>12/24/2024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2A8C5E-5ACC-4DAB-B41C-5718F8C58B6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03EFADE-B1F7-484F-89D9-3E148D53B52B}" type="datetime1">
              <a:rPr lang="en-US" smtClean="0"/>
              <a:pPr/>
              <a:t>12/24/2024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C2A8C5E-5ACC-4DAB-B41C-5718F8C58B6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09F378E-9541-4F7D-BD6F-302448FBBB81}" type="datetime1">
              <a:rPr lang="en-US" smtClean="0"/>
              <a:pPr/>
              <a:t>12/24/2024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C2A8C5E-5ACC-4DAB-B41C-5718F8C58B6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26370F-658E-452B-A4D5-DB4240E0AF51}" type="datetime1">
              <a:rPr lang="en-US" smtClean="0"/>
              <a:pPr/>
              <a:t>12/24/2024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C2A8C5E-5ACC-4DAB-B41C-5718F8C58B6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C18E6F0-0C4F-4052-A284-495110A822E2}" type="datetime1">
              <a:rPr lang="en-US" smtClean="0"/>
              <a:pPr/>
              <a:t>12/24/2024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2A8C5E-5ACC-4DAB-B41C-5718F8C58B6D}"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4C22A7-5E39-4CEE-A6B3-52DA5303DD53}" type="datetime1">
              <a:rPr lang="en-US" smtClean="0"/>
              <a:pPr/>
              <a:t>12/24/2024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2A8C5E-5ACC-4DAB-B41C-5718F8C58B6D}"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5641830-9FBF-4C58-837A-230882702FD4}" type="datetime1">
              <a:rPr lang="en-US" smtClean="0"/>
              <a:pPr/>
              <a:t>12/24/2024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2A8C5E-5ACC-4DAB-B41C-5718F8C58B6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91B8442-52C5-4632-BA82-04F7AD4C9B34}" type="datetime1">
              <a:rPr lang="en-US" smtClean="0"/>
              <a:pPr/>
              <a:t>12/24/2024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2A8C5E-5ACC-4DAB-B41C-5718F8C58B6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8188C4-8F03-4988-A683-AFCBDCFC6ED7}" type="datetime1">
              <a:rPr lang="en-US" smtClean="0"/>
              <a:pPr/>
              <a:t>12/24/2024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2A8C5E-5ACC-4DAB-B41C-5718F8C58B6D}"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9468"/>
            <a:ext cx="7772400" cy="1470025"/>
          </a:xfrm>
        </p:spPr>
        <p:txBody>
          <a:bodyPr>
            <a:normAutofit/>
          </a:bodyPr>
          <a:lstStyle/>
          <a:p>
            <a:r>
              <a:rPr lang="en-US" sz="4000" b="1" dirty="0">
                <a:latin typeface="Sitka Small Semibold" pitchFamily="2" charset="0"/>
                <a:cs typeface="Times New Roman" panose="02020603050405020304" pitchFamily="18" charset="0"/>
              </a:rPr>
              <a:t>Key Word Search System</a:t>
            </a:r>
            <a:endParaRPr lang="en-US" sz="40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600200" y="2999493"/>
            <a:ext cx="5486400" cy="2085093"/>
          </a:xfrm>
        </p:spPr>
        <p:txBody>
          <a:bodyPr>
            <a:normAutofit/>
          </a:bodyPr>
          <a:lstStyle/>
          <a:p>
            <a:endParaRPr lang="en-US" sz="1400" b="1" dirty="0">
              <a:solidFill>
                <a:schemeClr val="tx1"/>
              </a:solidFill>
              <a:latin typeface="Times New Roman" panose="02020603050405020304" pitchFamily="18" charset="0"/>
              <a:cs typeface="Times New Roman" panose="02020603050405020304" pitchFamily="18" charset="0"/>
            </a:endParaRPr>
          </a:p>
          <a:p>
            <a:r>
              <a:rPr lang="en-US" sz="1800" b="1" dirty="0">
                <a:solidFill>
                  <a:schemeClr val="tx1"/>
                </a:solidFill>
                <a:latin typeface="Times New Roman" panose="02020603050405020304" pitchFamily="18" charset="0"/>
                <a:cs typeface="Times New Roman" panose="02020603050405020304" pitchFamily="18" charset="0"/>
              </a:rPr>
              <a:t>Name:			Urooj Mustafa                         </a:t>
            </a:r>
          </a:p>
          <a:p>
            <a:r>
              <a:rPr lang="en-US" sz="1800" b="1" dirty="0">
                <a:solidFill>
                  <a:schemeClr val="tx1"/>
                </a:solidFill>
                <a:latin typeface="Times New Roman" panose="02020603050405020304" pitchFamily="18" charset="0"/>
                <a:cs typeface="Times New Roman" panose="02020603050405020304" pitchFamily="18" charset="0"/>
              </a:rPr>
              <a:t> Registration No:            		14670</a:t>
            </a:r>
          </a:p>
          <a:p>
            <a:endParaRPr lang="en-US" sz="1400" b="1" dirty="0">
              <a:solidFill>
                <a:schemeClr val="tx1"/>
              </a:solidFill>
              <a:latin typeface="Times New Roman" panose="02020603050405020304" pitchFamily="18" charset="0"/>
              <a:cs typeface="Times New Roman" panose="02020603050405020304" pitchFamily="18" charset="0"/>
            </a:endParaRPr>
          </a:p>
          <a:p>
            <a:endParaRPr lang="en-US" sz="1400" b="1" dirty="0">
              <a:solidFill>
                <a:schemeClr val="tx1"/>
              </a:solidFill>
              <a:latin typeface="Times New Roman" panose="02020603050405020304" pitchFamily="18" charset="0"/>
              <a:cs typeface="Times New Roman" panose="02020603050405020304" pitchFamily="18" charset="0"/>
            </a:endParaRPr>
          </a:p>
          <a:p>
            <a:endParaRPr lang="en-US" sz="1400" b="1" dirty="0">
              <a:solidFill>
                <a:schemeClr val="tx1"/>
              </a:solidFill>
              <a:latin typeface="Times New Roman" panose="02020603050405020304" pitchFamily="18" charset="0"/>
              <a:cs typeface="Times New Roman" panose="02020603050405020304" pitchFamily="18" charset="0"/>
            </a:endParaRPr>
          </a:p>
          <a:p>
            <a:r>
              <a:rPr lang="en-US" sz="1400" b="1" dirty="0">
                <a:solidFill>
                  <a:schemeClr val="tx1"/>
                </a:solidFill>
                <a:latin typeface="Times New Roman" panose="02020603050405020304" pitchFamily="18" charset="0"/>
                <a:cs typeface="Times New Roman" panose="02020603050405020304" pitchFamily="18" charset="0"/>
              </a:rPr>
              <a:t>Teacher : Jamal Abdul Ahad</a:t>
            </a: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pPr/>
              <a:t>1</a:t>
            </a:fld>
            <a:endParaRPr lang="en-US" dirty="0">
              <a:latin typeface="Times New Roman" panose="02020603050405020304" pitchFamily="18" charset="0"/>
              <a:cs typeface="Times New Roman" panose="02020603050405020304" pitchFamily="18" charset="0"/>
            </a:endParaRPr>
          </a:p>
        </p:txBody>
      </p:sp>
      <p:sp>
        <p:nvSpPr>
          <p:cNvPr id="6" name="Subtitle 2"/>
          <p:cNvSpPr txBox="1">
            <a:spLocks/>
          </p:cNvSpPr>
          <p:nvPr/>
        </p:nvSpPr>
        <p:spPr>
          <a:xfrm>
            <a:off x="1371600" y="5365750"/>
            <a:ext cx="6400800" cy="990600"/>
          </a:xfrm>
          <a:prstGeom prst="rect">
            <a:avLst/>
          </a:prstGeom>
        </p:spPr>
        <p:txBody>
          <a:bodyPr vert="horz" lIns="91440" tIns="45720" rIns="91440" bIns="45720" rtlCol="0">
            <a:normAutofit/>
          </a:bodyPr>
          <a:lstStyle/>
          <a:p>
            <a:pPr lvl="0" algn="ctr">
              <a:spcBef>
                <a:spcPct val="20000"/>
              </a:spcBef>
              <a:defRPr/>
            </a:pPr>
            <a:r>
              <a:rPr lang="en-US" sz="2800" dirty="0">
                <a:latin typeface="Times New Roman" panose="02020603050405020304" pitchFamily="18" charset="0"/>
                <a:cs typeface="Times New Roman" panose="02020603050405020304" pitchFamily="18" charset="0"/>
              </a:rPr>
              <a:t>Abbottabad University of Science &amp; Technology</a:t>
            </a:r>
            <a:endParaRPr kumimoji="0" lang="en-US" sz="22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Agenda of the Presentation</a:t>
            </a:r>
          </a:p>
        </p:txBody>
      </p:sp>
      <p:sp>
        <p:nvSpPr>
          <p:cNvPr id="3" name="Content Placeholder 2"/>
          <p:cNvSpPr>
            <a:spLocks noGrp="1"/>
          </p:cNvSpPr>
          <p:nvPr>
            <p:ph idx="1"/>
          </p:nvPr>
        </p:nvSpPr>
        <p:spPr>
          <a:xfrm>
            <a:off x="914400" y="1417638"/>
            <a:ext cx="7620000" cy="5165724"/>
          </a:xfrm>
        </p:spPr>
        <p:txBody>
          <a:bodyPr>
            <a:normAutofit/>
          </a:bodyPr>
          <a:lstStyle/>
          <a:p>
            <a:pPr marL="514350" indent="-514350">
              <a:buFont typeface="+mj-lt"/>
              <a:buAutoNum type="arabicPeriod"/>
            </a:pPr>
            <a:r>
              <a:rPr lang="en-US" sz="2100" dirty="0">
                <a:latin typeface="Times New Roman" panose="02020603050405020304" pitchFamily="18" charset="0"/>
                <a:cs typeface="Times New Roman" panose="02020603050405020304" pitchFamily="18" charset="0"/>
              </a:rPr>
              <a:t>Brief Introduction</a:t>
            </a:r>
          </a:p>
          <a:p>
            <a:pPr marL="514350" indent="-514350">
              <a:buFont typeface="+mj-lt"/>
              <a:buAutoNum type="arabicPeriod"/>
            </a:pPr>
            <a:r>
              <a:rPr lang="en-US" sz="2100" dirty="0">
                <a:latin typeface="Times New Roman" panose="02020603050405020304" pitchFamily="18" charset="0"/>
                <a:cs typeface="Times New Roman" panose="02020603050405020304" pitchFamily="18" charset="0"/>
              </a:rPr>
              <a:t>Scope</a:t>
            </a:r>
          </a:p>
          <a:p>
            <a:pPr marL="514350" indent="-514350">
              <a:buFont typeface="+mj-lt"/>
              <a:buAutoNum type="arabicPeriod"/>
            </a:pPr>
            <a:r>
              <a:rPr lang="en-US" sz="2100" dirty="0">
                <a:latin typeface="Times New Roman" panose="02020603050405020304" pitchFamily="18" charset="0"/>
                <a:cs typeface="Times New Roman" panose="02020603050405020304" pitchFamily="18" charset="0"/>
              </a:rPr>
              <a:t>Functional Requirements</a:t>
            </a:r>
          </a:p>
          <a:p>
            <a:pPr marL="514350" indent="-514350">
              <a:buFont typeface="+mj-lt"/>
              <a:buAutoNum type="arabicPeriod"/>
            </a:pPr>
            <a:r>
              <a:rPr lang="en-US" sz="2100" dirty="0">
                <a:latin typeface="Times New Roman" panose="02020603050405020304" pitchFamily="18" charset="0"/>
                <a:cs typeface="Times New Roman" panose="02020603050405020304" pitchFamily="18" charset="0"/>
              </a:rPr>
              <a:t>Non -Functional Requirements</a:t>
            </a:r>
          </a:p>
          <a:p>
            <a:pPr marL="514350" indent="-514350">
              <a:buFont typeface="+mj-lt"/>
              <a:buAutoNum type="arabicPeriod"/>
            </a:pPr>
            <a:r>
              <a:rPr lang="en-US" sz="2100" dirty="0">
                <a:latin typeface="Times New Roman" panose="02020603050405020304" pitchFamily="18" charset="0"/>
                <a:cs typeface="Times New Roman" panose="02020603050405020304" pitchFamily="18" charset="0"/>
              </a:rPr>
              <a:t>Use Cases</a:t>
            </a:r>
          </a:p>
          <a:p>
            <a:pPr marL="514350" indent="-514350">
              <a:buFont typeface="+mj-lt"/>
              <a:buAutoNum type="arabicPeriod"/>
            </a:pPr>
            <a:r>
              <a:rPr lang="en-US" sz="2100" dirty="0">
                <a:latin typeface="Times New Roman" panose="02020603050405020304" pitchFamily="18" charset="0"/>
                <a:cs typeface="Times New Roman" panose="02020603050405020304" pitchFamily="18" charset="0"/>
              </a:rPr>
              <a:t>Conclusion</a:t>
            </a: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pPr/>
              <a:t>2</a:t>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Brief Introduction</a:t>
            </a:r>
          </a:p>
        </p:txBody>
      </p:sp>
      <p:sp>
        <p:nvSpPr>
          <p:cNvPr id="3" name="Content Placeholder 2"/>
          <p:cNvSpPr>
            <a:spLocks noGrp="1"/>
          </p:cNvSpPr>
          <p:nvPr>
            <p:ph idx="1"/>
          </p:nvPr>
        </p:nvSpPr>
        <p:spPr/>
        <p:txBody>
          <a:bodyPr>
            <a:normAutofit fontScale="70000" lnSpcReduction="20000"/>
          </a:bodyPr>
          <a:lstStyle/>
          <a:p>
            <a:pPr>
              <a:lnSpc>
                <a:spcPct val="150000"/>
              </a:lnSpc>
            </a:pPr>
            <a:r>
              <a:rPr lang="en-US" dirty="0">
                <a:latin typeface="Times New Roman" panose="02020603050405020304" pitchFamily="18" charset="0"/>
                <a:cs typeface="Times New Roman" panose="02020603050405020304" pitchFamily="18" charset="0"/>
              </a:rPr>
              <a:t>The Keyword Search System is a simple yet powerful tool designed to help users quickly find specific keywords within text files. It streamlines the process of searching by displaying the exact locations (line numbers and positions) of the keyword occurrences. This project aims to provide an efficient solution for users dealing with large text files or datasets. Key features of the system include: Fast, accurate keyword search Case-sensitive and case-insensitive options Simple Command-Line Interface (CLI)Error handling for invalid inputs and files The system is ideal for individuals who need quick and reliable keyword searches in text-based documents..</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pPr/>
              <a:t>3</a:t>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Scope</a:t>
            </a:r>
          </a:p>
        </p:txBody>
      </p:sp>
      <p:sp>
        <p:nvSpPr>
          <p:cNvPr id="3" name="Content Placeholder 2"/>
          <p:cNvSpPr>
            <a:spLocks noGrp="1"/>
          </p:cNvSpPr>
          <p:nvPr>
            <p:ph idx="1"/>
          </p:nvPr>
        </p:nvSpPr>
        <p:spPr>
          <a:xfrm>
            <a:off x="571500" y="1524000"/>
            <a:ext cx="8001000" cy="4662487"/>
          </a:xfrm>
        </p:spPr>
        <p:txBody>
          <a:bodyPr>
            <a:normAutofit/>
          </a:bodyPr>
          <a:lstStyle/>
          <a:p>
            <a:pPr marL="0" indent="0">
              <a:buNone/>
            </a:pPr>
            <a:r>
              <a:rPr lang="en-US" sz="2800" b="1" dirty="0">
                <a:latin typeface="Times New Roman" panose="02020603050405020304" pitchFamily="18" charset="0"/>
                <a:cs typeface="Times New Roman" panose="02020603050405020304" pitchFamily="18" charset="0"/>
              </a:rPr>
              <a:t>To-Do:</a:t>
            </a:r>
          </a:p>
          <a:p>
            <a:r>
              <a:rPr lang="en-US" sz="2400" b="1" dirty="0">
                <a:latin typeface="Times New Roman" panose="02020603050405020304" pitchFamily="18" charset="0"/>
                <a:cs typeface="Times New Roman" panose="02020603050405020304" pitchFamily="18" charset="0"/>
              </a:rPr>
              <a:t>Basic Search</a:t>
            </a:r>
            <a:r>
              <a:rPr lang="en-US" sz="2400" dirty="0">
                <a:latin typeface="Times New Roman" panose="02020603050405020304" pitchFamily="18" charset="0"/>
                <a:cs typeface="Times New Roman" panose="02020603050405020304" pitchFamily="18" charset="0"/>
              </a:rPr>
              <a:t>: Implement keyword search in a text file, displaying line numbers and positions.</a:t>
            </a:r>
          </a:p>
          <a:p>
            <a:r>
              <a:rPr lang="en-US" sz="2400" b="1" dirty="0">
                <a:latin typeface="Times New Roman" panose="02020603050405020304" pitchFamily="18" charset="0"/>
                <a:cs typeface="Times New Roman" panose="02020603050405020304" pitchFamily="18" charset="0"/>
              </a:rPr>
              <a:t>Case Sensitivity</a:t>
            </a:r>
            <a:r>
              <a:rPr lang="en-US" sz="2400" dirty="0">
                <a:latin typeface="Times New Roman" panose="02020603050405020304" pitchFamily="18" charset="0"/>
                <a:cs typeface="Times New Roman" panose="02020603050405020304" pitchFamily="18" charset="0"/>
              </a:rPr>
              <a:t>: Add options for case-sensitive and case-insensitive searches.</a:t>
            </a:r>
          </a:p>
          <a:p>
            <a:r>
              <a:rPr lang="en-US" sz="2400" b="1" dirty="0">
                <a:latin typeface="Times New Roman" panose="02020603050405020304" pitchFamily="18" charset="0"/>
                <a:cs typeface="Times New Roman" panose="02020603050405020304" pitchFamily="18" charset="0"/>
              </a:rPr>
              <a:t>Error Handling</a:t>
            </a:r>
            <a:r>
              <a:rPr lang="en-US" sz="2400" dirty="0">
                <a:latin typeface="Times New Roman" panose="02020603050405020304" pitchFamily="18" charset="0"/>
                <a:cs typeface="Times New Roman" panose="02020603050405020304" pitchFamily="18" charset="0"/>
              </a:rPr>
              <a:t>: Handle file and input errors gracefully</a:t>
            </a:r>
            <a:r>
              <a:rPr lang="en-US" dirty="0"/>
              <a:t>.</a:t>
            </a:r>
          </a:p>
          <a:p>
            <a:pPr marL="0" indent="0">
              <a:buNone/>
            </a:pPr>
            <a:endParaRPr lang="en-US" dirty="0"/>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pPr/>
              <a:t>4</a:t>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05BB0-8408-405F-B7A5-F9C29B03BC1E}"/>
              </a:ext>
            </a:extLst>
          </p:cNvPr>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Scope (continue)</a:t>
            </a:r>
            <a:endParaRPr lang="en-PK" dirty="0"/>
          </a:p>
        </p:txBody>
      </p:sp>
      <p:sp>
        <p:nvSpPr>
          <p:cNvPr id="3" name="Content Placeholder 2">
            <a:extLst>
              <a:ext uri="{FF2B5EF4-FFF2-40B4-BE49-F238E27FC236}">
                <a16:creationId xmlns:a16="http://schemas.microsoft.com/office/drawing/2014/main" id="{CE397768-3256-456A-9217-0431C7F97AD7}"/>
              </a:ext>
            </a:extLst>
          </p:cNvPr>
          <p:cNvSpPr>
            <a:spLocks noGrp="1"/>
          </p:cNvSpPr>
          <p:nvPr>
            <p:ph idx="1"/>
          </p:nvPr>
        </p:nvSpPr>
        <p:spPr/>
        <p:txBody>
          <a:bodyPr>
            <a:normAutofit/>
          </a:bodyPr>
          <a:lstStyle/>
          <a:p>
            <a:r>
              <a:rPr lang="en-US" dirty="0">
                <a:solidFill>
                  <a:srgbClr val="0D0D0D"/>
                </a:solidFill>
                <a:highlight>
                  <a:srgbClr val="FFFFFF"/>
                </a:highlight>
                <a:latin typeface="Times New Roman" panose="02020603050405020304" pitchFamily="18" charset="0"/>
                <a:cs typeface="Times New Roman" panose="02020603050405020304" pitchFamily="18" charset="0"/>
              </a:rPr>
              <a:t> </a:t>
            </a:r>
            <a:r>
              <a:rPr lang="en-US" sz="2400" b="1" dirty="0">
                <a:highlight>
                  <a:srgbClr val="FFFFFF"/>
                </a:highlight>
                <a:latin typeface="Times New Roman" panose="02020603050405020304" pitchFamily="18" charset="0"/>
                <a:cs typeface="Times New Roman" panose="02020603050405020304" pitchFamily="18" charset="0"/>
              </a:rPr>
              <a:t>CLI</a:t>
            </a:r>
            <a:r>
              <a:rPr lang="en-US" sz="2400" dirty="0">
                <a:highlight>
                  <a:srgbClr val="FFFFFF"/>
                </a:highlight>
                <a:latin typeface="Times New Roman" panose="02020603050405020304" pitchFamily="18" charset="0"/>
                <a:cs typeface="Times New Roman" panose="02020603050405020304" pitchFamily="18" charset="0"/>
              </a:rPr>
              <a:t>: Develop a simple command-line interface for user interaction.</a:t>
            </a:r>
          </a:p>
          <a:p>
            <a:r>
              <a:rPr lang="en-US" sz="2400" b="1" dirty="0">
                <a:highlight>
                  <a:srgbClr val="FFFFFF"/>
                </a:highlight>
                <a:latin typeface="Times New Roman" panose="02020603050405020304" pitchFamily="18" charset="0"/>
                <a:cs typeface="Times New Roman" panose="02020603050405020304" pitchFamily="18" charset="0"/>
              </a:rPr>
              <a:t>Future Enhancements</a:t>
            </a:r>
            <a:r>
              <a:rPr lang="en-US" sz="2400" dirty="0">
                <a:highlight>
                  <a:srgbClr val="FFFFFF"/>
                </a:highlight>
                <a:latin typeface="Times New Roman" panose="02020603050405020304" pitchFamily="18" charset="0"/>
                <a:cs typeface="Times New Roman" panose="02020603050405020304" pitchFamily="18" charset="0"/>
              </a:rPr>
              <a:t> (Out of Scope):</a:t>
            </a:r>
          </a:p>
          <a:p>
            <a:pPr lvl="1"/>
            <a:r>
              <a:rPr lang="en-US" sz="2000" dirty="0">
                <a:highlight>
                  <a:srgbClr val="FFFFFF"/>
                </a:highlight>
                <a:latin typeface="Times New Roman" panose="02020603050405020304" pitchFamily="18" charset="0"/>
                <a:cs typeface="Times New Roman" panose="02020603050405020304" pitchFamily="18" charset="0"/>
              </a:rPr>
              <a:t>Multi-file search</a:t>
            </a:r>
          </a:p>
          <a:p>
            <a:pPr lvl="1"/>
            <a:r>
              <a:rPr lang="en-US" sz="2000" dirty="0">
                <a:highlight>
                  <a:srgbClr val="FFFFFF"/>
                </a:highlight>
                <a:latin typeface="Times New Roman" panose="02020603050405020304" pitchFamily="18" charset="0"/>
                <a:cs typeface="Times New Roman" panose="02020603050405020304" pitchFamily="18" charset="0"/>
              </a:rPr>
              <a:t>Support for advanced file formats (PDF, DOCX)</a:t>
            </a:r>
          </a:p>
          <a:p>
            <a:pPr lvl="1"/>
            <a:r>
              <a:rPr lang="en-US" sz="2000" dirty="0">
                <a:highlight>
                  <a:srgbClr val="FFFFFF"/>
                </a:highlight>
                <a:latin typeface="Times New Roman" panose="02020603050405020304" pitchFamily="18" charset="0"/>
                <a:cs typeface="Times New Roman" panose="02020603050405020304" pitchFamily="18" charset="0"/>
              </a:rPr>
              <a:t>GUI development</a:t>
            </a:r>
          </a:p>
          <a:p>
            <a:r>
              <a:rPr lang="en-US" sz="2400" dirty="0">
                <a:highlight>
                  <a:srgbClr val="FFFFFF"/>
                </a:highlight>
                <a:latin typeface="Times New Roman" panose="02020603050405020304" pitchFamily="18" charset="0"/>
                <a:cs typeface="Times New Roman" panose="02020603050405020304" pitchFamily="18" charset="0"/>
              </a:rPr>
              <a:t>This ensures the core functionality is covered, with potential for future improvements</a:t>
            </a:r>
            <a:r>
              <a:rPr lang="en-US" dirty="0">
                <a:solidFill>
                  <a:srgbClr val="0D0D0D"/>
                </a:solidFill>
                <a:highlight>
                  <a:srgbClr val="FFFFFF"/>
                </a:highlight>
                <a:latin typeface="Times New Roman" panose="02020603050405020304" pitchFamily="18" charset="0"/>
                <a:cs typeface="Times New Roman" panose="02020603050405020304" pitchFamily="18" charset="0"/>
              </a:rPr>
              <a:t>.</a:t>
            </a:r>
            <a:endParaRPr lang="en-PK" dirty="0"/>
          </a:p>
        </p:txBody>
      </p:sp>
      <p:sp>
        <p:nvSpPr>
          <p:cNvPr id="4" name="Slide Number Placeholder 3">
            <a:extLst>
              <a:ext uri="{FF2B5EF4-FFF2-40B4-BE49-F238E27FC236}">
                <a16:creationId xmlns:a16="http://schemas.microsoft.com/office/drawing/2014/main" id="{21B2ED64-C182-42EF-BB93-DBFD7B4348F0}"/>
              </a:ext>
            </a:extLst>
          </p:cNvPr>
          <p:cNvSpPr>
            <a:spLocks noGrp="1"/>
          </p:cNvSpPr>
          <p:nvPr>
            <p:ph type="sldNum" sz="quarter" idx="12"/>
          </p:nvPr>
        </p:nvSpPr>
        <p:spPr/>
        <p:txBody>
          <a:bodyPr/>
          <a:lstStyle/>
          <a:p>
            <a:fld id="{DC2A8C5E-5ACC-4DAB-B41C-5718F8C58B6D}" type="slidenum">
              <a:rPr lang="en-US" smtClean="0"/>
              <a:pPr/>
              <a:t>5</a:t>
            </a:fld>
            <a:endParaRPr lang="en-US"/>
          </a:p>
        </p:txBody>
      </p:sp>
    </p:spTree>
    <p:extLst>
      <p:ext uri="{BB962C8B-B14F-4D97-AF65-F5344CB8AC3E}">
        <p14:creationId xmlns:p14="http://schemas.microsoft.com/office/powerpoint/2010/main" val="39010665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45FC7-8549-4E59-B3F8-BE58F40B4110}"/>
              </a:ext>
            </a:extLst>
          </p:cNvPr>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Scope</a:t>
            </a:r>
            <a:endParaRPr lang="en-PK" dirty="0"/>
          </a:p>
        </p:txBody>
      </p:sp>
      <p:sp>
        <p:nvSpPr>
          <p:cNvPr id="3" name="Content Placeholder 2">
            <a:extLst>
              <a:ext uri="{FF2B5EF4-FFF2-40B4-BE49-F238E27FC236}">
                <a16:creationId xmlns:a16="http://schemas.microsoft.com/office/drawing/2014/main" id="{BD2F8E3E-7452-42DA-B6C9-9240AC33BF10}"/>
              </a:ext>
            </a:extLst>
          </p:cNvPr>
          <p:cNvSpPr>
            <a:spLocks noGrp="1"/>
          </p:cNvSpPr>
          <p:nvPr>
            <p:ph idx="1"/>
          </p:nvPr>
        </p:nvSpPr>
        <p:spPr/>
        <p:txBody>
          <a:bodyPr>
            <a:normAutofit fontScale="85000" lnSpcReduction="20000"/>
          </a:bodyPr>
          <a:lstStyle/>
          <a:p>
            <a:pPr marL="0" indent="0">
              <a:buNone/>
            </a:pPr>
            <a:r>
              <a:rPr lang="en-US" b="1" dirty="0">
                <a:solidFill>
                  <a:srgbClr val="0D0D0D"/>
                </a:solidFill>
                <a:latin typeface="Times New Roman" panose="02020603050405020304" pitchFamily="18" charset="0"/>
                <a:cs typeface="Times New Roman" panose="02020603050405020304" pitchFamily="18" charset="0"/>
              </a:rPr>
              <a:t>Not to Do:</a:t>
            </a:r>
          </a:p>
          <a:p>
            <a:r>
              <a:rPr lang="en-US" sz="2600" b="1" dirty="0">
                <a:latin typeface="Times New Roman" panose="02020603050405020304" pitchFamily="18" charset="0"/>
                <a:cs typeface="Times New Roman" panose="02020603050405020304" pitchFamily="18" charset="0"/>
              </a:rPr>
              <a:t>Graphical User Interface (GUI)</a:t>
            </a:r>
            <a:r>
              <a:rPr lang="en-US" sz="2600" dirty="0">
                <a:latin typeface="Times New Roman" panose="02020603050405020304" pitchFamily="18" charset="0"/>
                <a:cs typeface="Times New Roman" panose="02020603050405020304" pitchFamily="18" charset="0"/>
              </a:rPr>
              <a:t>: No GUI will be developed in this version.</a:t>
            </a:r>
          </a:p>
          <a:p>
            <a:endParaRPr lang="en-US" sz="2600" dirty="0">
              <a:latin typeface="Times New Roman" panose="02020603050405020304" pitchFamily="18" charset="0"/>
              <a:cs typeface="Times New Roman" panose="02020603050405020304" pitchFamily="18" charset="0"/>
            </a:endParaRPr>
          </a:p>
          <a:p>
            <a:r>
              <a:rPr lang="en-US" sz="2600" b="1" dirty="0">
                <a:latin typeface="Times New Roman" panose="02020603050405020304" pitchFamily="18" charset="0"/>
                <a:cs typeface="Times New Roman" panose="02020603050405020304" pitchFamily="18" charset="0"/>
              </a:rPr>
              <a:t>Multi-file Search</a:t>
            </a:r>
            <a:r>
              <a:rPr lang="en-US" sz="2600" dirty="0">
                <a:latin typeface="Times New Roman" panose="02020603050405020304" pitchFamily="18" charset="0"/>
                <a:cs typeface="Times New Roman" panose="02020603050405020304" pitchFamily="18" charset="0"/>
              </a:rPr>
              <a:t>: Searching across multiple files or directories is not included.</a:t>
            </a:r>
          </a:p>
          <a:p>
            <a:endParaRPr lang="en-US" sz="2600" dirty="0">
              <a:latin typeface="Times New Roman" panose="02020603050405020304" pitchFamily="18" charset="0"/>
              <a:cs typeface="Times New Roman" panose="02020603050405020304" pitchFamily="18" charset="0"/>
            </a:endParaRPr>
          </a:p>
          <a:p>
            <a:r>
              <a:rPr lang="en-US" sz="2600" b="1" dirty="0">
                <a:latin typeface="Times New Roman" panose="02020603050405020304" pitchFamily="18" charset="0"/>
                <a:cs typeface="Times New Roman" panose="02020603050405020304" pitchFamily="18" charset="0"/>
              </a:rPr>
              <a:t>Advanced File Formats</a:t>
            </a:r>
            <a:r>
              <a:rPr lang="en-US" sz="2600" dirty="0">
                <a:latin typeface="Times New Roman" panose="02020603050405020304" pitchFamily="18" charset="0"/>
                <a:cs typeface="Times New Roman" panose="02020603050405020304" pitchFamily="18" charset="0"/>
              </a:rPr>
              <a:t>: No support for file types like PDF or DOCX.</a:t>
            </a:r>
          </a:p>
          <a:p>
            <a:endParaRPr lang="en-US" sz="2600" dirty="0">
              <a:latin typeface="Times New Roman" panose="02020603050405020304" pitchFamily="18" charset="0"/>
              <a:cs typeface="Times New Roman" panose="02020603050405020304" pitchFamily="18" charset="0"/>
            </a:endParaRPr>
          </a:p>
          <a:p>
            <a:r>
              <a:rPr lang="en-US" sz="2600" b="1" dirty="0">
                <a:latin typeface="Times New Roman" panose="02020603050405020304" pitchFamily="18" charset="0"/>
                <a:cs typeface="Times New Roman" panose="02020603050405020304" pitchFamily="18" charset="0"/>
              </a:rPr>
              <a:t>Database Integration</a:t>
            </a:r>
            <a:r>
              <a:rPr lang="en-US" sz="2600" dirty="0">
                <a:latin typeface="Times New Roman" panose="02020603050405020304" pitchFamily="18" charset="0"/>
                <a:cs typeface="Times New Roman" panose="02020603050405020304" pitchFamily="18" charset="0"/>
              </a:rPr>
              <a:t>: The system will not connect to or store data in a database.</a:t>
            </a:r>
          </a:p>
          <a:p>
            <a:r>
              <a:rPr lang="en-US" sz="2600" dirty="0">
                <a:latin typeface="Times New Roman" panose="02020603050405020304" pitchFamily="18" charset="0"/>
                <a:cs typeface="Times New Roman" panose="02020603050405020304" pitchFamily="18" charset="0"/>
              </a:rPr>
              <a:t>These features are outside the current project scope but can be considered for future versions</a:t>
            </a:r>
            <a:r>
              <a:rPr lang="en-US" sz="3000" dirty="0"/>
              <a:t>.</a:t>
            </a:r>
          </a:p>
        </p:txBody>
      </p:sp>
      <p:sp>
        <p:nvSpPr>
          <p:cNvPr id="4" name="Slide Number Placeholder 3">
            <a:extLst>
              <a:ext uri="{FF2B5EF4-FFF2-40B4-BE49-F238E27FC236}">
                <a16:creationId xmlns:a16="http://schemas.microsoft.com/office/drawing/2014/main" id="{F3826409-21C9-42FC-9418-AD6590C41C7A}"/>
              </a:ext>
            </a:extLst>
          </p:cNvPr>
          <p:cNvSpPr>
            <a:spLocks noGrp="1"/>
          </p:cNvSpPr>
          <p:nvPr>
            <p:ph type="sldNum" sz="quarter" idx="12"/>
          </p:nvPr>
        </p:nvSpPr>
        <p:spPr/>
        <p:txBody>
          <a:bodyPr/>
          <a:lstStyle/>
          <a:p>
            <a:fld id="{DC2A8C5E-5ACC-4DAB-B41C-5718F8C58B6D}" type="slidenum">
              <a:rPr lang="en-US" smtClean="0"/>
              <a:pPr/>
              <a:t>6</a:t>
            </a:fld>
            <a:endParaRPr lang="en-US"/>
          </a:p>
        </p:txBody>
      </p:sp>
    </p:spTree>
    <p:extLst>
      <p:ext uri="{BB962C8B-B14F-4D97-AF65-F5344CB8AC3E}">
        <p14:creationId xmlns:p14="http://schemas.microsoft.com/office/powerpoint/2010/main" val="23227442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Functional Requirements</a:t>
            </a: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pPr/>
              <a:t>7</a:t>
            </a:fld>
            <a:endParaRPr lang="en-US">
              <a:latin typeface="Times New Roman" panose="02020603050405020304" pitchFamily="18" charset="0"/>
              <a:cs typeface="Times New Roman" panose="02020603050405020304" pitchFamily="18" charset="0"/>
            </a:endParaRPr>
          </a:p>
        </p:txBody>
      </p:sp>
      <p:sp>
        <p:nvSpPr>
          <p:cNvPr id="7" name="Rectangle 3">
            <a:extLst>
              <a:ext uri="{FF2B5EF4-FFF2-40B4-BE49-F238E27FC236}">
                <a16:creationId xmlns:a16="http://schemas.microsoft.com/office/drawing/2014/main" id="{938CEEE3-1E43-45AD-89D4-E6C5B424ABC9}"/>
              </a:ext>
            </a:extLst>
          </p:cNvPr>
          <p:cNvSpPr>
            <a:spLocks noChangeArrowheads="1"/>
          </p:cNvSpPr>
          <p:nvPr/>
        </p:nvSpPr>
        <p:spPr bwMode="auto">
          <a:xfrm>
            <a:off x="838200" y="2139632"/>
            <a:ext cx="8534400" cy="3447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Search Functionality</a:t>
            </a:r>
            <a:endParaRPr kumimoji="0" lang="en-PK" altLang="en-PK"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Allow the user to input a keyword and search for it within a specified text file.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Display Results</a:t>
            </a:r>
            <a:endParaRPr kumimoji="0" lang="en-PK" altLang="en-PK"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Show the line numbers and positions where the keyword appears in the text.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Case-Sensitivity</a:t>
            </a:r>
            <a:endParaRPr kumimoji="0" lang="en-PK" altLang="en-PK"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 an option for case-sensitive or case-insensitive searches.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Error Handling</a:t>
            </a:r>
            <a:endParaRPr kumimoji="0" lang="en-PK" altLang="en-PK"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Handle errors like file not found or invalid keyword input.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Command-Line Interface (CLI)</a:t>
            </a:r>
            <a:endParaRPr kumimoji="0" lang="en-PK" altLang="en-PK"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Allow user interaction through a simple text-based interface.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6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Non-Functional Requirements</a:t>
            </a: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pPr/>
              <a:t>8</a:t>
            </a:fld>
            <a:endParaRPr lang="en-US">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02324DA2-F810-48A7-9A06-0C51D003AA8F}"/>
              </a:ext>
            </a:extLst>
          </p:cNvPr>
          <p:cNvSpPr>
            <a:spLocks noChangeArrowheads="1"/>
          </p:cNvSpPr>
          <p:nvPr/>
        </p:nvSpPr>
        <p:spPr bwMode="auto">
          <a:xfrm>
            <a:off x="457200" y="1442131"/>
            <a:ext cx="8436429" cy="5444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r>
              <a:rPr lang="en-US" altLang="en-PK" b="1" dirty="0">
                <a:latin typeface="Times New Roman" panose="02020603050405020304" pitchFamily="18" charset="0"/>
                <a:cs typeface="Times New Roman" panose="02020603050405020304" pitchFamily="18" charset="0"/>
              </a:rPr>
              <a:t> </a:t>
            </a:r>
            <a:r>
              <a:rPr kumimoji="0" lang="en-PK" altLang="en-PK"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Performance</a:t>
            </a:r>
            <a:endParaRPr kumimoji="0" lang="en-PK" altLang="en-PK"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tabLst/>
            </a:pPr>
            <a:r>
              <a:rPr kumimoji="0" lang="en-US" altLang="en-PK"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PK" altLang="en-PK"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should process searches efficiently, even with files up to 100 MB.</a:t>
            </a:r>
          </a:p>
          <a:p>
            <a:pPr marL="0" marR="0" lvl="0" indent="0" algn="l" defTabSz="914400" rtl="0" eaLnBrk="0" fontAlgn="base" latinLnBrk="0" hangingPunct="0">
              <a:lnSpc>
                <a:spcPct val="150000"/>
              </a:lnSpc>
              <a:spcBef>
                <a:spcPct val="0"/>
              </a:spcBef>
              <a:spcAft>
                <a:spcPct val="0"/>
              </a:spcAft>
              <a:buClrTx/>
              <a:buSzTx/>
              <a:tabLst/>
            </a:pPr>
            <a:r>
              <a:rPr kumimoji="0" lang="en-PK" altLang="en-PK"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Reliability</a:t>
            </a:r>
            <a:endParaRPr kumimoji="0" lang="en-PK" altLang="en-PK"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tabLst/>
            </a:pPr>
            <a:r>
              <a:rPr kumimoji="0" lang="en-PK" altLang="en-PK"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must consistently return correct results and handle errors gracefully.</a:t>
            </a:r>
          </a:p>
          <a:p>
            <a:pPr marL="0" marR="0" lvl="0" indent="0" algn="l" defTabSz="914400" rtl="0" eaLnBrk="0" fontAlgn="base" latinLnBrk="0" hangingPunct="0">
              <a:lnSpc>
                <a:spcPct val="150000"/>
              </a:lnSpc>
              <a:spcBef>
                <a:spcPct val="0"/>
              </a:spcBef>
              <a:spcAft>
                <a:spcPct val="0"/>
              </a:spcAft>
              <a:buClrTx/>
              <a:buSzTx/>
              <a:tabLst/>
            </a:pPr>
            <a:r>
              <a:rPr kumimoji="0" lang="en-PK" altLang="en-PK"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Usability</a:t>
            </a:r>
            <a:endParaRPr kumimoji="0" lang="en-PK" altLang="en-PK"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tabLst/>
            </a:pPr>
            <a:r>
              <a:rPr kumimoji="0" lang="en-PK" altLang="en-PK"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Simple CLI interface for easy use with minimal input from the user.</a:t>
            </a:r>
          </a:p>
          <a:p>
            <a:pPr marL="0" marR="0" lvl="0" indent="0" algn="l" defTabSz="914400" rtl="0" eaLnBrk="0" fontAlgn="base" latinLnBrk="0" hangingPunct="0">
              <a:lnSpc>
                <a:spcPct val="150000"/>
              </a:lnSpc>
              <a:spcBef>
                <a:spcPct val="0"/>
              </a:spcBef>
              <a:spcAft>
                <a:spcPct val="0"/>
              </a:spcAft>
              <a:buClrTx/>
              <a:buSzTx/>
              <a:tabLst/>
            </a:pPr>
            <a:r>
              <a:rPr kumimoji="0" lang="en-PK" altLang="en-PK"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Scalability</a:t>
            </a:r>
            <a:endParaRPr kumimoji="0" lang="en-PK" altLang="en-PK"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tabLst/>
            </a:pPr>
            <a:r>
              <a:rPr kumimoji="0" lang="en-PK" altLang="en-PK"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should be extendable for future features like multi-file search.</a:t>
            </a:r>
          </a:p>
          <a:p>
            <a:pPr marL="0" marR="0" lvl="0" indent="0" algn="l" defTabSz="914400" rtl="0" eaLnBrk="0" fontAlgn="base" latinLnBrk="0" hangingPunct="0">
              <a:lnSpc>
                <a:spcPct val="150000"/>
              </a:lnSpc>
              <a:spcBef>
                <a:spcPct val="0"/>
              </a:spcBef>
              <a:spcAft>
                <a:spcPct val="0"/>
              </a:spcAft>
              <a:buClrTx/>
              <a:buSzTx/>
              <a:tabLst/>
            </a:pPr>
            <a:r>
              <a:rPr kumimoji="0" lang="en-PK" altLang="en-PK"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Maintainability</a:t>
            </a:r>
            <a:endParaRPr kumimoji="0" lang="en-PK" altLang="en-PK"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tabLst/>
            </a:pPr>
            <a:r>
              <a:rPr kumimoji="0" lang="en-PK" altLang="en-PK"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Code should be well-organized, modular, and documented for easy updates.</a:t>
            </a:r>
          </a:p>
          <a:p>
            <a:pPr marL="0" marR="0" lvl="0" indent="0" algn="l" defTabSz="914400" rtl="0" eaLnBrk="0" fontAlgn="base" latinLnBrk="0" hangingPunct="0">
              <a:lnSpc>
                <a:spcPct val="150000"/>
              </a:lnSpc>
              <a:spcBef>
                <a:spcPct val="0"/>
              </a:spcBef>
              <a:spcAft>
                <a:spcPct val="0"/>
              </a:spcAft>
              <a:buClrTx/>
              <a:buSzTx/>
              <a:tabLst/>
            </a:pPr>
            <a:r>
              <a:rPr kumimoji="0" lang="en-PK" altLang="en-PK"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Portability</a:t>
            </a:r>
            <a:endParaRPr kumimoji="0" lang="en-PK" altLang="en-PK"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tabLst/>
            </a:pPr>
            <a:r>
              <a:rPr kumimoji="0" lang="en-PK" altLang="en-PK"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should run on Windows, macOS, and Linux with Python installed.</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PK" altLang="en-PK"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User Goals </a:t>
            </a: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pPr/>
              <a:t>9</a:t>
            </a:fld>
            <a:endParaRPr lang="en-US">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CB781935-CE2A-45B0-8135-8CE5457F5EB9}"/>
              </a:ext>
            </a:extLst>
          </p:cNvPr>
          <p:cNvSpPr>
            <a:spLocks noChangeArrowheads="1"/>
          </p:cNvSpPr>
          <p:nvPr/>
        </p:nvSpPr>
        <p:spPr bwMode="auto">
          <a:xfrm>
            <a:off x="609600" y="1905000"/>
            <a:ext cx="769620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PK"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PK" altLang="en-PK"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Efficient Keyword Search</a:t>
            </a:r>
            <a:endParaRPr kumimoji="0" lang="en-PK" altLang="en-PK"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PK" altLang="en-PK"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Quickly find specific keywords within large text files.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PK"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PK" altLang="en-PK"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Accurate Results</a:t>
            </a:r>
            <a:endParaRPr kumimoji="0" lang="en-PK" altLang="en-PK"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PK"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PK" altLang="en-PK"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Get precise line numbers and positions where the keyword appears.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PK"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PK" altLang="en-PK"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Simple Interface</a:t>
            </a:r>
            <a:endParaRPr kumimoji="0" lang="en-PK" altLang="en-PK"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PK" altLang="en-PK"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Easy-to-use, command-line interface for minimal interaction.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PK"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PK" altLang="en-PK"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Custom Search Options</a:t>
            </a:r>
            <a:endParaRPr kumimoji="0" lang="en-PK" altLang="en-PK"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PK" altLang="en-PK"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Ability to choose between case-sensitive or case-insensitive searches.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p:txBody>
          <a:bodyPr>
            <a:normAutofit fontScale="92500" lnSpcReduction="20000"/>
          </a:bodyPr>
          <a:lstStyle/>
          <a:p>
            <a:r>
              <a:rPr lang="en-US" sz="2800" dirty="0">
                <a:latin typeface="Times New Roman" panose="02020603050405020304" pitchFamily="18" charset="0"/>
                <a:cs typeface="Times New Roman" panose="02020603050405020304" pitchFamily="18" charset="0"/>
              </a:rPr>
              <a:t>The </a:t>
            </a:r>
            <a:r>
              <a:rPr lang="en-US" sz="2800" b="1" dirty="0">
                <a:latin typeface="Times New Roman" panose="02020603050405020304" pitchFamily="18" charset="0"/>
                <a:cs typeface="Times New Roman" panose="02020603050405020304" pitchFamily="18" charset="0"/>
              </a:rPr>
              <a:t>Keyword Search System</a:t>
            </a:r>
            <a:r>
              <a:rPr lang="en-US" sz="2800" dirty="0">
                <a:latin typeface="Times New Roman" panose="02020603050405020304" pitchFamily="18" charset="0"/>
                <a:cs typeface="Times New Roman" panose="02020603050405020304" pitchFamily="18" charset="0"/>
              </a:rPr>
              <a:t> provides an efficient, reliable, and easy-to-use solution for searching specific keywords within text files. With features like case-sensitive search and error handling, it simplifies the process of locating information in large documents.</a:t>
            </a:r>
          </a:p>
          <a:p>
            <a:r>
              <a:rPr lang="en-US" sz="2800" dirty="0">
                <a:latin typeface="Times New Roman" panose="02020603050405020304" pitchFamily="18" charset="0"/>
                <a:cs typeface="Times New Roman" panose="02020603050405020304" pitchFamily="18" charset="0"/>
              </a:rPr>
              <a:t>Though the current version is simple with a command-line interface, it offers a strong foundation for future enhancements, including multi-file search and GUI development.</a:t>
            </a:r>
          </a:p>
          <a:p>
            <a:r>
              <a:rPr lang="en-US" sz="2800" dirty="0">
                <a:latin typeface="Times New Roman" panose="02020603050405020304" pitchFamily="18" charset="0"/>
                <a:cs typeface="Times New Roman" panose="02020603050405020304" pitchFamily="18" charset="0"/>
              </a:rPr>
              <a:t>This project meets the core needs of users looking for quick, accurate text searches and can be expanded in the future to address more complex requirements.</a:t>
            </a: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pPr/>
              <a:t>10</a:t>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254</TotalTime>
  <Words>651</Words>
  <Application>Microsoft Office PowerPoint</Application>
  <PresentationFormat>On-screen Show (4:3)</PresentationFormat>
  <Paragraphs>87</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Sitka Small Semibold</vt:lpstr>
      <vt:lpstr>Times New Roman</vt:lpstr>
      <vt:lpstr>Office Theme</vt:lpstr>
      <vt:lpstr>Key Word Search System</vt:lpstr>
      <vt:lpstr>Agenda of the Presentation</vt:lpstr>
      <vt:lpstr>Brief Introduction</vt:lpstr>
      <vt:lpstr>Scope</vt:lpstr>
      <vt:lpstr>Scope (continue)</vt:lpstr>
      <vt:lpstr>Scope</vt:lpstr>
      <vt:lpstr>Functional Requirements</vt:lpstr>
      <vt:lpstr>Non-Functional Requirements</vt:lpstr>
      <vt:lpstr>User Goals </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USER</dc:creator>
  <cp:lastModifiedBy>Zohaib</cp:lastModifiedBy>
  <cp:revision>47</cp:revision>
  <dcterms:created xsi:type="dcterms:W3CDTF">2013-09-23T09:08:15Z</dcterms:created>
  <dcterms:modified xsi:type="dcterms:W3CDTF">2024-12-24T19:06:25Z</dcterms:modified>
</cp:coreProperties>
</file>